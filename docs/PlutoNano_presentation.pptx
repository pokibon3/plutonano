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653ac35d-d655-78e2-ba17-1839fa020787}">
          <p14:sldIdLst>
            <p14:sldId id="256"/>
          </p14:sldIdLst>
        </p14:section>
        <p14:section name="Pluto SDR Nano" id="{93ab6679-e96c-ed7a-05f1-922ea5372181}">
          <p14:sldIdLst>
            <p14:sldId id="257"/>
            <p14:sldId id="258"/>
          </p14:sldIdLst>
        </p14:section>
        <p14:section name="アプリ" id="{d670d360-797b-2fc6-5bee-a7b568c3bc0c}">
          <p14:sldIdLst>
            <p14:sldId id="259"/>
            <p14:sldId id="260"/>
            <p14:sldId id="261"/>
          </p14:sldIdLst>
        </p14:section>
        <p14:section name="機能" id="{05473fdd-ea5e-4b5c-0ce5-0f64d6e7dfe7}">
          <p14:sldIdLst>
            <p14:sldId id="262"/>
            <p14:sldId id="263"/>
            <p14:sldId id="264"/>
          </p14:sldIdLst>
        </p14:section>
        <p14:section name="性能と環境" id="{b78e1018-176e-eb6c-f86e-8d7742e5d2e0}">
          <p14:sldIdLst>
            <p14:sldId id="265"/>
            <p14:sldId id="266"/>
          </p14:sldIdLst>
        </p14:section>
        <p14:section name="まとめ" id="{3bd93a26-bd8d-b5ea-a3e1-0b5d987b698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1A22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E1A22"/>
                </a:solidFill>
                <a:latin typeface="+mn-lt"/>
              </a:rPr>
              <a:t>サンプルレートごとの USB データ量（MB/s）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データ量 (MB/s)</c:v>
                </c:pt>
              </c:strCache>
            </c:strRef>
          </c:tx>
          <c:spPr>
            <a:solidFill>
              <a:srgbClr val="1597B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D33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97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597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97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97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597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95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2.4 MSPS</c:v>
                  </c:pt>
                  <c:pt idx="1">
                    <c:v>3.072 MSPS</c:v>
                  </c:pt>
                  <c:pt idx="2">
                    <c:v>4 MSPS</c:v>
                  </c:pt>
                  <c:pt idx="3">
                    <c:v>5 MSPS</c:v>
                  </c:pt>
                  <c:pt idx="4">
                    <c:v>6 MSPS</c:v>
                  </c:pt>
                  <c:pt idx="5">
                    <c:v>7.68 MSPS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</c:v>
                </c:pt>
                <c:pt idx="1">
                  <c:v>12.3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30.7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D33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879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879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今日は、小型の SDR「Pluto SDR Nano」と、それをブラウザだけで動かす SDR アプリを紹介します。下に写っているのがアプリのフロントパネルです。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Pluto SDR Nano は、Analog Devices の ADALM-Pluto と互換の小型 SDR です。AliExpress などで買えます。RF チップは AD9363、FPGA は Zynq-7010 で、基準クロックに 0.5 ppm の TCXO を積んでいます。USB-C 2 つと SMA アンテナ 2 本で、ヒートシンクが付いています。仕様は販売ページの記載で、メーカーのデータシートは見つかっていません。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Pluto SDR Nano は USB の ID まで ADALM-Pluto と同じなので、ADALM-Pluto 用のソフトがそのまま動きます。違いは基準クロックが TCXO で周波数のずれが小さいことと、端子が USB-C であることです。最初に AD9364 の設定にしておくと、70 MHz から 6 GHz まで使えます。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特徴は 3 つです。ドライバもサーバーも要らないこと、70 MHz から 6 GHz まで受信できること、そしてアプリ全体が約 190 KB の HTML 1 ファイルに収まっていることです。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画面は SDR++ を参考にしたスペクトラムとウォーターフォールが中心で、上にアマチュア無線機風のフロントパネルを置いています。左のサイドバーで細かい設定をします。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Pluto SDR Nano との通信は、libiio の USB バックエンドに相当する部分を JavaScript で書いています。受信した I/Q は Web Worker で FFT と復調をして AudioWorklet で鳴らします。送信はその逆で、マイクの音を TX Worker で変調して Pluto SDR Nano に書き込みます。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フロントパネルは ICOM の無線機を参考にしました。S メーター、周波数表示、モードキーとバンドキー、メインダイヤルがあり、マウスで実機に近い感覚で操作できます。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受信は 6 モードに対応し、WFM はステレオで聞けます。各モードに 3 つのフィルタがあり、20 MHz 幅で掃引する広帯域スキャンもあります。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送信もできますが、誤って電波を出さないよう制限をかけています。日本のアマチュアバンドの中でしか送信せず、3 分で自動停止し、ウィンドウからフォーカスが外れても止まります。なお、実際に電波を出すには免許と無線設備の登録、外付けの LPF / BPF が必要です。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Pluto SDR Nano との接続は USB 2.0 なので、サンプルレートを上げると USB の帯域が足りなくなります。連続受信は 6 MSPS 以下を推奨しています。2.083 MSPS 未満は FIR フィルタの読み込みが必要なので、2.4 MSPS が下限です。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WebUSB が必要なので Chrome か Edge で動きます。今のところ動作を確認したのは macOS だけです。PWA としてインストールすればアプリのように使え、オフラインでも起動します。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まとめると、ブラウザだけで Pluto SDR Nano を受信機と送信機として使え、操作は無線機に近く、送信には安全のための制限があります。今後は Windows や Linux での動作確認を進めたいと考えています。URL を開けばすぐ試せます。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745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Pluto SDR Nano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hyperlink" Target="https://pokibon3.github.io/PlutoNano/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okibon3.github.io/PlutoNano/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Pluto SDR Nano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74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本体と、ブラウザだけで動く SDR アプリの紹介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アプリ v1.5.0 ・ 2026 年 10 月 ・ pokibon3</a:t>
            </a:r>
            <a:endParaRPr lang="en-US" sz="1200" dirty="0"/>
          </a:p>
        </p:txBody>
      </p:sp>
      <p:pic>
        <p:nvPicPr>
          <p:cNvPr id="5" name="front panel" descr="アプリのフロントパネ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37560"/>
            <a:ext cx="8046720" cy="1024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Pluto SDR Nano は手のひらサイズの SDR</a:t>
            </a:r>
            <a:endParaRPr lang="en-US" sz="2600" dirty="0"/>
          </a:p>
        </p:txBody>
      </p:sp>
      <p:pic>
        <p:nvPicPr>
          <p:cNvPr id="3" name="Pluto SDR Nano photo" descr="3D プリントのケースに入れた Pluto SDR Na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023360" cy="30175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E1A22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3D プリントのケースに入れた Pluto SDR Nano　写真：aespz / Printables（CC BY 4.0）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1430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RF チップ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3898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AD9363（送信 1・受信 1、12 bit）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7465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FPGA・メモリ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9933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Zynq-7010・DDR3 512 MB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2350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基準クロック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25968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40 MHz TCXO（0.5 ppm）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29535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端子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846320" y="32004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USB-C ×2・SMA アンテナ ×2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35570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ソフトウェア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3803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ADALM-Pluto 互換のファームウェア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251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仕様は販売ページ（hamparts.shop）の記載による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ADALM-Pluto と同じソフトがそのまま動く</a:t>
            </a:r>
            <a:endParaRPr lang="en-US" sz="2600" dirty="0"/>
          </a:p>
        </p:txBody>
      </p:sp>
      <p:graphicFrame>
        <p:nvGraphicFramePr>
          <p:cNvPr id="4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ADALM-Pluto（純正）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Pluto SDR Nano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97B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RF チップ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AD9363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AD9363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受信範囲（設定後）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70 MHz〜6 GHz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70 MHz〜6 GHz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基準クロック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水晶（約 25 ppm）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597B5"/>
                          </a:solidFill>
                        </a:rPr>
                        <a:t>TCXO（0.5 ppm）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USB 端子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micro-USB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597B5"/>
                          </a:solidFill>
                        </a:rPr>
                        <a:t>USB-C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USB ID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0456:b673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1A22"/>
                          </a:solidFill>
                        </a:rPr>
                        <a:t>0456:b673（同じ）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8"/>
                    </a:solidFill>
                  </a:tcPr>
                </a:tc>
              </a:tr>
            </a:tbl>
          </a:graphicData>
        </a:graphic>
      </p:graphicFrame>
      <p:sp>
        <p:nvSpPr>
          <p:cNvPr id="4" name="setup note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5" name="setup circle"/>
          <p:cNvSpPr/>
          <p:nvPr/>
        </p:nvSpPr>
        <p:spPr>
          <a:xfrm>
            <a:off x="640080" y="38404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setu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3961181"/>
            <a:ext cx="261518" cy="26151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365760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使う前の準備（1 回だけ）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本体のシェルで fw_setenv attr_val ad9364 を実行し、受信範囲を 70 MHz〜6 GHz に広げる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インストール不要、Chrome で開くだけで使える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ドライバ・サーバー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260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WebUSB で Pluto SDR Nano と直接通信する。アプリの導入は不要</a:t>
            </a:r>
            <a:endParaRPr lang="en-US" sz="1400" dirty="0"/>
          </a:p>
        </p:txBody>
      </p:sp>
      <p:sp>
        <p:nvSpPr>
          <p:cNvPr id="7" name="stat card 2"/>
          <p:cNvSpPr/>
          <p:nvPr/>
        </p:nvSpPr>
        <p:spPr>
          <a:xfrm>
            <a:off x="329184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20440" y="14630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GHz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受信できる上限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9260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 MHz〜6 GHz。AD9364 設定時の全範囲</a:t>
            </a:r>
            <a:endParaRPr lang="en-US" sz="1400" dirty="0"/>
          </a:p>
        </p:txBody>
      </p:sp>
      <p:sp>
        <p:nvSpPr>
          <p:cNvPr id="11" name="stat card 3"/>
          <p:cNvSpPr/>
          <p:nvPr/>
        </p:nvSpPr>
        <p:spPr>
          <a:xfrm>
            <a:off x="612648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5080" y="14630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ファイル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約 190 KB の HTML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9260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JavaScript と CSS をすべて内蔵。ローカルでも動く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SDR++ 風の画面に、無線機風の操作パネル</a:t>
            </a:r>
            <a:endParaRPr lang="en-US" sz="2600" dirty="0"/>
          </a:p>
        </p:txBody>
      </p:sp>
      <p:pic>
        <p:nvPicPr>
          <p:cNvPr id="3" name="app screenshot" descr="アプリ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394960" cy="2235055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E1A22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533503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テスト用の擬似デバイスで 80 MHz を受信中の画面</a:t>
            </a:r>
            <a:endParaRPr lang="en-US" sz="1000" dirty="0"/>
          </a:p>
        </p:txBody>
      </p:sp>
      <p:sp>
        <p:nvSpPr>
          <p:cNvPr id="5" name="part 1 circle"/>
          <p:cNvSpPr/>
          <p:nvPr/>
        </p:nvSpPr>
        <p:spPr>
          <a:xfrm>
            <a:off x="6172200" y="11887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part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1" y="1309421"/>
            <a:ext cx="261518" cy="26151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12280" y="1188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フロントパネル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12280" y="151790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 メーター・周波数表示・ダイヤルを IC-7300 風に配置</a:t>
            </a:r>
            <a:endParaRPr lang="en-US" sz="1100" dirty="0"/>
          </a:p>
        </p:txBody>
      </p:sp>
      <p:sp>
        <p:nvSpPr>
          <p:cNvPr id="9" name="part 2 circle"/>
          <p:cNvSpPr/>
          <p:nvPr/>
        </p:nvSpPr>
        <p:spPr>
          <a:xfrm>
            <a:off x="6172200" y="22128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part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1" y="2333549"/>
            <a:ext cx="261518" cy="26151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812280" y="22128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スペクトラム表示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6812280" y="254203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ウォーターフォール付き。クリックで同調、ドラッグでスクロール</a:t>
            </a:r>
            <a:endParaRPr lang="en-US" sz="1100" dirty="0"/>
          </a:p>
        </p:txBody>
      </p:sp>
      <p:sp>
        <p:nvSpPr>
          <p:cNvPr id="13" name="part 3 circle"/>
          <p:cNvSpPr/>
          <p:nvPr/>
        </p:nvSpPr>
        <p:spPr>
          <a:xfrm>
            <a:off x="6172200" y="323697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art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2901" y="3357677"/>
            <a:ext cx="261518" cy="26151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812280" y="323697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サイドバー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6812280" y="3566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サンプルレート・ゲイン・音声デバイス・送信などの設定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WebUSB で Pluto SDR Nano と直接やりとりする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97B5"/>
                </a:solidFill>
              </a:rPr>
              <a:t>受信</a:t>
            </a:r>
            <a:endParaRPr lang="en-US" sz="1400" dirty="0"/>
          </a:p>
        </p:txBody>
      </p:sp>
      <p:sp>
        <p:nvSpPr>
          <p:cNvPr id="4" name="受信 1"/>
          <p:cNvSpPr/>
          <p:nvPr/>
        </p:nvSpPr>
        <p:spPr>
          <a:xfrm>
            <a:off x="1325880" y="123444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25880" y="123444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Pluto SDR Nano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AD9364 / IIOD</a:t>
            </a:r>
            <a:endParaRPr lang="en-US" sz="1200" dirty="0"/>
          </a:p>
        </p:txBody>
      </p:sp>
      <p:sp>
        <p:nvSpPr>
          <p:cNvPr id="6" name="受信 arrow 1"/>
          <p:cNvSpPr/>
          <p:nvPr/>
        </p:nvSpPr>
        <p:spPr>
          <a:xfrm rot="5400000">
            <a:off x="2592324" y="1572768"/>
            <a:ext cx="219456" cy="146304"/>
          </a:xfrm>
          <a:prstGeom prst="triangle">
            <a:avLst/>
          </a:prstGeom>
          <a:solidFill>
            <a:srgbClr val="1597B5"/>
          </a:solidFill>
          <a:ln/>
        </p:spPr>
      </p:sp>
      <p:sp>
        <p:nvSpPr>
          <p:cNvPr id="7" name="受信 2"/>
          <p:cNvSpPr/>
          <p:nvPr/>
        </p:nvSpPr>
        <p:spPr>
          <a:xfrm>
            <a:off x="2862072" y="123444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62072" y="123444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pluto.js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I/Q を受け取る</a:t>
            </a:r>
            <a:endParaRPr lang="en-US" sz="1200" dirty="0"/>
          </a:p>
        </p:txBody>
      </p:sp>
      <p:sp>
        <p:nvSpPr>
          <p:cNvPr id="9" name="受信 arrow 2"/>
          <p:cNvSpPr/>
          <p:nvPr/>
        </p:nvSpPr>
        <p:spPr>
          <a:xfrm rot="5400000">
            <a:off x="4128516" y="1572768"/>
            <a:ext cx="219456" cy="146304"/>
          </a:xfrm>
          <a:prstGeom prst="triangle">
            <a:avLst/>
          </a:prstGeom>
          <a:solidFill>
            <a:srgbClr val="1597B5"/>
          </a:solidFill>
          <a:ln/>
        </p:spPr>
      </p:sp>
      <p:sp>
        <p:nvSpPr>
          <p:cNvPr id="10" name="受信 3"/>
          <p:cNvSpPr/>
          <p:nvPr/>
        </p:nvSpPr>
        <p:spPr>
          <a:xfrm>
            <a:off x="4398264" y="123444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98264" y="123444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DSP Worker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FFT・復調</a:t>
            </a:r>
            <a:endParaRPr lang="en-US" sz="1200" dirty="0"/>
          </a:p>
        </p:txBody>
      </p:sp>
      <p:sp>
        <p:nvSpPr>
          <p:cNvPr id="12" name="受信 arrow 3"/>
          <p:cNvSpPr/>
          <p:nvPr/>
        </p:nvSpPr>
        <p:spPr>
          <a:xfrm rot="5400000">
            <a:off x="5664708" y="1572768"/>
            <a:ext cx="219456" cy="146304"/>
          </a:xfrm>
          <a:prstGeom prst="triangle">
            <a:avLst/>
          </a:prstGeom>
          <a:solidFill>
            <a:srgbClr val="1597B5"/>
          </a:solidFill>
          <a:ln/>
        </p:spPr>
      </p:sp>
      <p:sp>
        <p:nvSpPr>
          <p:cNvPr id="13" name="受信 4"/>
          <p:cNvSpPr/>
          <p:nvPr/>
        </p:nvSpPr>
        <p:spPr>
          <a:xfrm>
            <a:off x="5934456" y="123444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34456" y="123444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AudioWorklet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音声出力</a:t>
            </a:r>
            <a:endParaRPr lang="en-US" sz="1200" dirty="0"/>
          </a:p>
        </p:txBody>
      </p:sp>
      <p:sp>
        <p:nvSpPr>
          <p:cNvPr id="15" name="受信 arrow 4"/>
          <p:cNvSpPr/>
          <p:nvPr/>
        </p:nvSpPr>
        <p:spPr>
          <a:xfrm rot="5400000">
            <a:off x="7200900" y="1572768"/>
            <a:ext cx="219456" cy="146304"/>
          </a:xfrm>
          <a:prstGeom prst="triangle">
            <a:avLst/>
          </a:prstGeom>
          <a:solidFill>
            <a:srgbClr val="1597B5"/>
          </a:solidFill>
          <a:ln/>
        </p:spPr>
      </p:sp>
      <p:sp>
        <p:nvSpPr>
          <p:cNvPr id="16" name="受信 5"/>
          <p:cNvSpPr/>
          <p:nvPr/>
        </p:nvSpPr>
        <p:spPr>
          <a:xfrm>
            <a:off x="7470648" y="123444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70648" y="123444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スピーカー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出力先を選べる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4231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34A"/>
                </a:solidFill>
              </a:rPr>
              <a:t>送信</a:t>
            </a:r>
            <a:endParaRPr lang="en-US" sz="1400" dirty="0"/>
          </a:p>
        </p:txBody>
      </p:sp>
      <p:sp>
        <p:nvSpPr>
          <p:cNvPr id="19" name="送信 1"/>
          <p:cNvSpPr/>
          <p:nvPr/>
        </p:nvSpPr>
        <p:spPr>
          <a:xfrm>
            <a:off x="1325880" y="242316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25880" y="242316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マイク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入力元を選べる</a:t>
            </a:r>
            <a:endParaRPr lang="en-US" sz="1200" dirty="0"/>
          </a:p>
        </p:txBody>
      </p:sp>
      <p:sp>
        <p:nvSpPr>
          <p:cNvPr id="21" name="送信 arrow 1"/>
          <p:cNvSpPr/>
          <p:nvPr/>
        </p:nvSpPr>
        <p:spPr>
          <a:xfrm rot="5400000">
            <a:off x="2592324" y="2761488"/>
            <a:ext cx="219456" cy="146304"/>
          </a:xfrm>
          <a:prstGeom prst="triangle">
            <a:avLst/>
          </a:prstGeom>
          <a:solidFill>
            <a:srgbClr val="D9434A"/>
          </a:solidFill>
          <a:ln/>
        </p:spPr>
      </p:sp>
      <p:sp>
        <p:nvSpPr>
          <p:cNvPr id="22" name="送信 2"/>
          <p:cNvSpPr/>
          <p:nvPr/>
        </p:nvSpPr>
        <p:spPr>
          <a:xfrm>
            <a:off x="2862072" y="242316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862072" y="242316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AudioWorklet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マイク取り込み</a:t>
            </a:r>
            <a:endParaRPr lang="en-US" sz="1200" dirty="0"/>
          </a:p>
        </p:txBody>
      </p:sp>
      <p:sp>
        <p:nvSpPr>
          <p:cNvPr id="24" name="送信 arrow 2"/>
          <p:cNvSpPr/>
          <p:nvPr/>
        </p:nvSpPr>
        <p:spPr>
          <a:xfrm rot="5400000">
            <a:off x="4128516" y="2761488"/>
            <a:ext cx="219456" cy="146304"/>
          </a:xfrm>
          <a:prstGeom prst="triangle">
            <a:avLst/>
          </a:prstGeom>
          <a:solidFill>
            <a:srgbClr val="D9434A"/>
          </a:solidFill>
          <a:ln/>
        </p:spPr>
      </p:sp>
      <p:sp>
        <p:nvSpPr>
          <p:cNvPr id="25" name="送信 3"/>
          <p:cNvSpPr/>
          <p:nvPr/>
        </p:nvSpPr>
        <p:spPr>
          <a:xfrm>
            <a:off x="4398264" y="242316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98264" y="242316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TX Worker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変調 → I/Q</a:t>
            </a:r>
            <a:endParaRPr lang="en-US" sz="1200" dirty="0"/>
          </a:p>
        </p:txBody>
      </p:sp>
      <p:sp>
        <p:nvSpPr>
          <p:cNvPr id="27" name="送信 arrow 3"/>
          <p:cNvSpPr/>
          <p:nvPr/>
        </p:nvSpPr>
        <p:spPr>
          <a:xfrm rot="5400000">
            <a:off x="5664708" y="2761488"/>
            <a:ext cx="219456" cy="146304"/>
          </a:xfrm>
          <a:prstGeom prst="triangle">
            <a:avLst/>
          </a:prstGeom>
          <a:solidFill>
            <a:srgbClr val="D9434A"/>
          </a:solidFill>
          <a:ln/>
        </p:spPr>
      </p:sp>
      <p:sp>
        <p:nvSpPr>
          <p:cNvPr id="28" name="送信 4"/>
          <p:cNvSpPr/>
          <p:nvPr/>
        </p:nvSpPr>
        <p:spPr>
          <a:xfrm>
            <a:off x="5934456" y="242316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34456" y="242316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pluto.js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I/Q を書き込む</a:t>
            </a:r>
            <a:endParaRPr lang="en-US" sz="1200" dirty="0"/>
          </a:p>
        </p:txBody>
      </p:sp>
      <p:sp>
        <p:nvSpPr>
          <p:cNvPr id="30" name="送信 arrow 4"/>
          <p:cNvSpPr/>
          <p:nvPr/>
        </p:nvSpPr>
        <p:spPr>
          <a:xfrm rot="5400000">
            <a:off x="7200900" y="2761488"/>
            <a:ext cx="219456" cy="146304"/>
          </a:xfrm>
          <a:prstGeom prst="triangle">
            <a:avLst/>
          </a:prstGeom>
          <a:solidFill>
            <a:srgbClr val="D9434A"/>
          </a:solidFill>
          <a:ln/>
        </p:spPr>
      </p:sp>
      <p:sp>
        <p:nvSpPr>
          <p:cNvPr id="31" name="送信 5"/>
          <p:cNvSpPr/>
          <p:nvPr/>
        </p:nvSpPr>
        <p:spPr>
          <a:xfrm>
            <a:off x="7470648" y="2423160"/>
            <a:ext cx="1216152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470648" y="2423160"/>
            <a:ext cx="12161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Pluto SDR Nano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電波を出す</a:t>
            </a:r>
            <a:endParaRPr lang="en-US" sz="1200" dirty="0"/>
          </a:p>
        </p:txBody>
      </p:sp>
      <p:sp>
        <p:nvSpPr>
          <p:cNvPr id="33" name="arch note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85800" y="356616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重い処理はすべて Web Worker / AudioWorklet で動かし、画面描画（Canvas）を止めない。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libiio の USB バックエンドに相当する IIOD プロトコルを JavaScript で実装している。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操作は無線機と同じ感覚</a:t>
            </a:r>
            <a:endParaRPr lang="en-US" sz="2600" dirty="0"/>
          </a:p>
        </p:txBody>
      </p:sp>
      <p:pic>
        <p:nvPicPr>
          <p:cNvPr id="3" name="front panel" descr="アプリのフロントパネ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1047404"/>
          </a:xfrm>
          <a:prstGeom prst="rect">
            <a:avLst/>
          </a:prstGeom>
        </p:spPr>
      </p:pic>
      <p:sp>
        <p:nvSpPr>
          <p:cNvPr id="4" name="control 1"/>
          <p:cNvSpPr/>
          <p:nvPr/>
        </p:nvSpPr>
        <p:spPr>
          <a:xfrm>
            <a:off x="457200" y="260604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 メーター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 / dBm / dBFS の 3 目盛り。送信中は PO メーター</a:t>
            </a:r>
            <a:endParaRPr lang="en-US" sz="1200" dirty="0"/>
          </a:p>
        </p:txBody>
      </p:sp>
      <p:sp>
        <p:nvSpPr>
          <p:cNvPr id="7" name="control 2"/>
          <p:cNvSpPr/>
          <p:nvPr/>
        </p:nvSpPr>
        <p:spPr>
          <a:xfrm>
            <a:off x="2560320" y="260604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74320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周波数表示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桁ごとにホイールで変更、ダブルクリックで直接入力</a:t>
            </a:r>
            <a:endParaRPr lang="en-US" sz="1200" dirty="0"/>
          </a:p>
        </p:txBody>
      </p:sp>
      <p:sp>
        <p:nvSpPr>
          <p:cNvPr id="10" name="control 3"/>
          <p:cNvSpPr/>
          <p:nvPr/>
        </p:nvSpPr>
        <p:spPr>
          <a:xfrm>
            <a:off x="4663440" y="260604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モード・バンド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84632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NFM〜CW の 6 モードと、日本のアマチュアバンド</a:t>
            </a:r>
            <a:endParaRPr lang="en-US" sz="1200" dirty="0"/>
          </a:p>
        </p:txBody>
      </p:sp>
      <p:sp>
        <p:nvSpPr>
          <p:cNvPr id="13" name="control 4"/>
          <p:cNvSpPr/>
          <p:nvPr/>
        </p:nvSpPr>
        <p:spPr>
          <a:xfrm>
            <a:off x="6766560" y="260604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494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メインダイヤル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94944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ドラッグで回す。勢いよく回すと惰性で回り続ける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6 つの復調モードと広帯域スキャン</a:t>
            </a:r>
            <a:endParaRPr lang="en-US" sz="2600" dirty="0"/>
          </a:p>
        </p:txBody>
      </p:sp>
      <p:sp>
        <p:nvSpPr>
          <p:cNvPr id="3" name="feature 1"/>
          <p:cNvSpPr/>
          <p:nvPr/>
        </p:nvSpPr>
        <p:spPr>
          <a:xfrm>
            <a:off x="4572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640080" y="1389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99616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 モードを復調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3852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WFM（ステレオ）/ NFM / AM / USB / LSB / CW</a:t>
            </a:r>
            <a:endParaRPr lang="en-US" sz="1200" dirty="0"/>
          </a:p>
        </p:txBody>
      </p:sp>
      <p:sp>
        <p:nvSpPr>
          <p:cNvPr id="8" name="feature 2"/>
          <p:cNvSpPr/>
          <p:nvPr/>
        </p:nvSpPr>
        <p:spPr>
          <a:xfrm>
            <a:off x="329184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3474720" y="1389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9961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690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つのフィルタ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193852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モードごとに FIL1〜3 を切り替え。帯域幅は記憶される</a:t>
            </a:r>
            <a:endParaRPr lang="en-US" sz="1200" dirty="0"/>
          </a:p>
        </p:txBody>
      </p:sp>
      <p:sp>
        <p:nvSpPr>
          <p:cNvPr id="13" name="feature 3"/>
          <p:cNvSpPr/>
          <p:nvPr/>
        </p:nvSpPr>
        <p:spPr>
          <a:xfrm>
            <a:off x="612648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6309360" y="1389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49961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0372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Wideband scan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193852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 MSPS・16 MHz ステップで掃引。クリックで受信</a:t>
            </a:r>
            <a:endParaRPr lang="en-US" sz="1200" dirty="0"/>
          </a:p>
        </p:txBody>
      </p:sp>
      <p:sp>
        <p:nvSpPr>
          <p:cNvPr id="18" name="feature 4"/>
          <p:cNvSpPr/>
          <p:nvPr/>
        </p:nvSpPr>
        <p:spPr>
          <a:xfrm>
            <a:off x="457200" y="288036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640080" y="30815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19125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3081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 メーター校正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63016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既知の信号で dBm 表示を合わせられる</a:t>
            </a:r>
            <a:endParaRPr lang="en-US" sz="1200" dirty="0"/>
          </a:p>
        </p:txBody>
      </p:sp>
      <p:sp>
        <p:nvSpPr>
          <p:cNvPr id="23" name="feature 5"/>
          <p:cNvSpPr/>
          <p:nvPr/>
        </p:nvSpPr>
        <p:spPr>
          <a:xfrm>
            <a:off x="3291840" y="288036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3474720" y="30815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3191256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69080" y="3081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周波数補正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3474720" y="363016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基準クロックの誤差を ppm で補正</a:t>
            </a:r>
            <a:endParaRPr lang="en-US" sz="1200" dirty="0"/>
          </a:p>
        </p:txBody>
      </p:sp>
      <p:sp>
        <p:nvSpPr>
          <p:cNvPr id="28" name="feature 6"/>
          <p:cNvSpPr/>
          <p:nvPr/>
        </p:nvSpPr>
        <p:spPr>
          <a:xfrm>
            <a:off x="6126480" y="288036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6309360" y="30815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3191256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03720" y="3081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バンドメモリ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309360" y="363016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バンドごとに最後の周波数とモードを記憶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送信には誤送信を防ぐ仕組みがある</a:t>
            </a:r>
            <a:endParaRPr lang="en-US" sz="2600" dirty="0"/>
          </a:p>
        </p:txBody>
      </p:sp>
      <p:sp>
        <p:nvSpPr>
          <p:cNvPr id="3" name="tx modes"/>
          <p:cNvSpPr/>
          <p:nvPr/>
        </p:nvSpPr>
        <p:spPr>
          <a:xfrm>
            <a:off x="457200" y="118872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4" name="tx circle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tx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送信できるモード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NFM（偏移 ±5 kHz）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USB / LSB（FIL の帯域）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CW（Space キーが電鍵）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918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PTT は Space キーか PTT ボタン。最大出力は約 +7 dBm</a:t>
            </a:r>
            <a:endParaRPr lang="en-US" sz="1100" dirty="0"/>
          </a:p>
        </p:txBody>
      </p:sp>
      <p:sp>
        <p:nvSpPr>
          <p:cNvPr id="9" name="guard 1 circle"/>
          <p:cNvSpPr/>
          <p:nvPr/>
        </p:nvSpPr>
        <p:spPr>
          <a:xfrm>
            <a:off x="4114800" y="12344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guard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13441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54880" y="1188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バンドの外では送信しない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4904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電波の幅が日本のアマチュアバンドに収まるときだけ</a:t>
            </a:r>
            <a:endParaRPr lang="en-US" sz="1200" dirty="0"/>
          </a:p>
        </p:txBody>
      </p:sp>
      <p:sp>
        <p:nvSpPr>
          <p:cNvPr id="13" name="guard 2 circle"/>
          <p:cNvSpPr/>
          <p:nvPr/>
        </p:nvSpPr>
        <p:spPr>
          <a:xfrm>
            <a:off x="4114800" y="207568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guard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18541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754880" y="20299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分で自動停止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タイムアウトタイマーで送信を止める</a:t>
            </a:r>
            <a:endParaRPr lang="en-US" sz="1200" dirty="0"/>
          </a:p>
        </p:txBody>
      </p:sp>
      <p:sp>
        <p:nvSpPr>
          <p:cNvPr id="17" name="guard 3 circle"/>
          <p:cNvSpPr/>
          <p:nvPr/>
        </p:nvSpPr>
        <p:spPr>
          <a:xfrm>
            <a:off x="4114800" y="2916936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guard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528" y="3026664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754880" y="28712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フォーカスが外れたら停止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4754880" y="31729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ウィンドウを離れると PTT が切れる</a:t>
            </a:r>
            <a:endParaRPr lang="en-US" sz="1200" dirty="0"/>
          </a:p>
        </p:txBody>
      </p:sp>
      <p:sp>
        <p:nvSpPr>
          <p:cNvPr id="21" name="guard 4 circle"/>
          <p:cNvSpPr/>
          <p:nvPr/>
        </p:nvSpPr>
        <p:spPr>
          <a:xfrm>
            <a:off x="4114800" y="3758184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guard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3867912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待機中は最小出力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4754880" y="401421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TX 減衰を −89.75 dB にしてテスト信号を抑える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USB 2.0 の帯域が受信レートの上限を決める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1206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7200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I/Q 各 16 bit（1 サンプル 4 バイト）で計算</a:t>
            </a:r>
            <a:endParaRPr lang="en-US" sz="1000" dirty="0"/>
          </a:p>
        </p:txBody>
      </p:sp>
      <p:sp>
        <p:nvSpPr>
          <p:cNvPr id="5" name="rec 1"/>
          <p:cNvSpPr/>
          <p:nvPr/>
        </p:nvSpPr>
        <p:spPr>
          <a:xfrm>
            <a:off x="5943600" y="1234440"/>
            <a:ext cx="27432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 MSPS 以下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連続受信の推奨。USB 2.0 の実効上限は約 8 MSPS</a:t>
            </a:r>
            <a:endParaRPr lang="en-US" sz="1100" dirty="0"/>
          </a:p>
        </p:txBody>
      </p:sp>
      <p:sp>
        <p:nvSpPr>
          <p:cNvPr id="8" name="rec 2"/>
          <p:cNvSpPr/>
          <p:nvPr/>
        </p:nvSpPr>
        <p:spPr>
          <a:xfrm>
            <a:off x="5943600" y="2331720"/>
            <a:ext cx="27432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2423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7.68 MSPS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選べるが、音が途切れることがある</a:t>
            </a:r>
            <a:endParaRPr lang="en-US" sz="1100" dirty="0"/>
          </a:p>
        </p:txBody>
      </p:sp>
      <p:sp>
        <p:nvSpPr>
          <p:cNvPr id="11" name="rec 3"/>
          <p:cNvSpPr/>
          <p:nvPr/>
        </p:nvSpPr>
        <p:spPr>
          <a:xfrm>
            <a:off x="5943600" y="3429000"/>
            <a:ext cx="27432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3520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2.4 MSPS 前後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3840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送信中の推奨。送受信の両方を USB で流すため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PWA でインストール、オフラインでも起動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環境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状況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3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E1A22"/>
                          </a:solidFill>
                        </a:rPr>
                        <a:t>macOS + Chrome / Edge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9D63"/>
                          </a:solidFill>
                        </a:rPr>
                        <a:t>動作確認済み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E1A22"/>
                          </a:solidFill>
                        </a:rPr>
                        <a:t>Windows + Chrome / Edge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8796"/>
                          </a:solidFill>
                        </a:rPr>
                        <a:t>未確認（WinUSB が必要）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E1A22"/>
                          </a:solidFill>
                        </a:rPr>
                        <a:t>Linux + Chrome / Edge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8796"/>
                          </a:solidFill>
                        </a:rPr>
                        <a:t>未確認（udev ルールが必要）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E1A22"/>
                          </a:solidFill>
                        </a:rPr>
                        <a:t>ChromeOS / Android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8796"/>
                          </a:solidFill>
                        </a:rPr>
                        <a:t>未確認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E1A22"/>
                          </a:solidFill>
                        </a:rPr>
                        <a:t>Safari・Firefox・iPhone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9434A"/>
                          </a:solidFill>
                        </a:rPr>
                        <a:t>動かない（WebUSB 非対応）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wa 1 circle"/>
          <p:cNvSpPr/>
          <p:nvPr/>
        </p:nvSpPr>
        <p:spPr>
          <a:xfrm>
            <a:off x="5760720" y="1234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wa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344168"/>
            <a:ext cx="237744" cy="23774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0" y="1188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アプリとしてインストール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51790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独立ウィンドウで開き、Dock から起動</a:t>
            </a:r>
            <a:endParaRPr lang="en-US" sz="1200" dirty="0"/>
          </a:p>
        </p:txBody>
      </p:sp>
      <p:sp>
        <p:nvSpPr>
          <p:cNvPr id="8" name="pwa 2 circle"/>
          <p:cNvSpPr/>
          <p:nvPr/>
        </p:nvSpPr>
        <p:spPr>
          <a:xfrm>
            <a:off x="5760720" y="2194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pwa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230428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4008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オフラインでも起動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0" y="2478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一度開けばネットがなくても使える</a:t>
            </a:r>
            <a:endParaRPr lang="en-US" sz="1200" dirty="0"/>
          </a:p>
        </p:txBody>
      </p:sp>
      <p:sp>
        <p:nvSpPr>
          <p:cNvPr id="12" name="pwa 3 circle"/>
          <p:cNvSpPr/>
          <p:nvPr/>
        </p:nvSpPr>
        <p:spPr>
          <a:xfrm>
            <a:off x="576072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pwa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326440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自動で更新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6400800" y="343814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新しい版を公開すると起動時に反映</a:t>
            </a:r>
            <a:endParaRPr lang="en-US" sz="1200" dirty="0"/>
          </a:p>
        </p:txBody>
      </p:sp>
      <p:sp>
        <p:nvSpPr>
          <p:cNvPr id="16" name="Text 10">
            <a:hlinkClick r:id="rId4" tooltip=""/>
          </p:cNvPr>
          <p:cNvSpPr txBox="1"/>
          <p:nvPr/>
        </p:nvSpPr>
        <p:spPr>
          <a:xfrm>
            <a:off x="5760720" y="4114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pokibon3.github.io/PlutoNano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まとめと今後</a:t>
            </a:r>
            <a:endParaRPr lang="en-US" sz="2600" dirty="0"/>
          </a:p>
        </p:txBody>
      </p:sp>
      <p:sp>
        <p:nvSpPr>
          <p:cNvPr id="3" name="num 1"/>
          <p:cNvSpPr/>
          <p:nvPr/>
        </p:nvSpPr>
        <p:spPr>
          <a:xfrm>
            <a:off x="457200" y="12252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ブラウザだけで受信機・送信機になる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996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Pluto SDR Nano と Chrome だけ。ドライバ・サーバー不要</a:t>
            </a:r>
            <a:endParaRPr lang="en-US" sz="1200" dirty="0"/>
          </a:p>
        </p:txBody>
      </p:sp>
      <p:sp>
        <p:nvSpPr>
          <p:cNvPr id="7" name="num 2"/>
          <p:cNvSpPr/>
          <p:nvPr/>
        </p:nvSpPr>
        <p:spPr>
          <a:xfrm>
            <a:off x="457200" y="20025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659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無線機の感覚で操作できる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768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フロントパネル、6 モード、バンドメモリ</a:t>
            </a:r>
            <a:endParaRPr lang="en-US" sz="1200" dirty="0"/>
          </a:p>
        </p:txBody>
      </p:sp>
      <p:sp>
        <p:nvSpPr>
          <p:cNvPr id="11" name="num 3"/>
          <p:cNvSpPr/>
          <p:nvPr/>
        </p:nvSpPr>
        <p:spPr>
          <a:xfrm>
            <a:off x="457200" y="27797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743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送信には誤送信を防ぐ制限がある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540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バンド制限・タイムアウト・最小出力での待機</a:t>
            </a:r>
            <a:endParaRPr lang="en-US" sz="1200" dirty="0"/>
          </a:p>
        </p:txBody>
      </p:sp>
      <p:sp>
        <p:nvSpPr>
          <p:cNvPr id="15" name="next"/>
          <p:cNvSpPr/>
          <p:nvPr/>
        </p:nvSpPr>
        <p:spPr>
          <a:xfrm>
            <a:off x="5669280" y="1188720"/>
            <a:ext cx="3017520" cy="2240280"/>
          </a:xfrm>
          <a:prstGeom prst="roundRect">
            <a:avLst>
              <a:gd name="adj" fmla="val 3265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9788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今後の課題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178308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Windows / Linux での動作確認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Android（USB OTG）での動作確認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70 MHz 未満の受信（アップコンバーター）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8796"/>
                </a:solidFill>
              </a:rPr>
              <a:t>アプリ  </a:t>
            </a:r>
            <a:pPr indent="0" marL="0">
              <a:buNone/>
            </a:pPr>
            <a:r>
              <a:rPr lang="en-US" sz="1600" b="1" u="sng" dirty="0">
                <a:solidFill>
                  <a:srgbClr val="1597B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https://pokibon3.github.io/PlutoNano/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uto SDR Nano">
  <a:themeElements>
    <a:clrScheme name="Pluto SDR Nano">
      <a:dk1>
        <a:srgbClr val="0E1A22"/>
      </a:dk1>
      <a:lt1>
        <a:srgbClr val="FFFFFF"/>
      </a:lt1>
      <a:dk2>
        <a:srgbClr val="1D3340"/>
      </a:dk2>
      <a:lt2>
        <a:srgbClr val="EEF3F6"/>
      </a:lt2>
      <a:accent1>
        <a:srgbClr val="1597B5"/>
      </a:accent1>
      <a:accent2>
        <a:srgbClr val="E8952B"/>
      </a:accent2>
      <a:accent3>
        <a:srgbClr val="D9434A"/>
      </a:accent3>
      <a:accent4>
        <a:srgbClr val="3E7CB1"/>
      </a:accent4>
      <a:accent5>
        <a:srgbClr val="6B8796"/>
      </a:accent5>
      <a:accent6>
        <a:srgbClr val="2A9D63"/>
      </a:accent6>
      <a:hlink>
        <a:srgbClr val="1597B5"/>
      </a:hlink>
      <a:folHlink>
        <a:srgbClr val="6B8796"/>
      </a:folHlink>
    </a:clrScheme>
    <a:fontScheme name="Pluto SDR Nano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Pluto SDR Nano</dc:title>
  <dc:subject>PptxGenJS Presentation</dc:subject>
  <dc:creator>pokibon3</dc:creator>
  <cp:lastModifiedBy>pokibon3</cp:lastModifiedBy>
  <cp:revision>1</cp:revision>
  <dcterms:created xsi:type="dcterms:W3CDTF">2026-10-16T11:13:13Z</dcterms:created>
  <dcterms:modified xsi:type="dcterms:W3CDTF">2026-10-16T11:13:13Z</dcterms:modified>
</cp:coreProperties>
</file>