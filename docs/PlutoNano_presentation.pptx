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はじめに" id="{dd24ab14-2b6c-6659-3e94-306def4d6dcd}">
          <p14:sldIdLst>
            <p14:sldId id="256"/>
            <p14:sldId id="257"/>
          </p14:sldIdLst>
        </p14:section>
        <p14:section name="画面と仕組み" id="{8baae906-de74-a3ab-efb0-5d20797ce98b}">
          <p14:sldIdLst>
            <p14:sldId id="258"/>
            <p14:sldId id="259"/>
          </p14:sldIdLst>
        </p14:section>
        <p14:section name="機能" id="{d39534a4-f024-78b6-957b-eb1d5aab0afa}">
          <p14:sldIdLst>
            <p14:sldId id="260"/>
            <p14:sldId id="261"/>
            <p14:sldId id="262"/>
          </p14:sldIdLst>
        </p14:section>
        <p14:section name="性能と環境" id="{c4a4f688-48d8-b14d-2dec-45b8e542ff8d}">
          <p14:sldIdLst>
            <p14:sldId id="263"/>
            <p14:sldId id="264"/>
          </p14:sldIdLst>
        </p14:section>
        <p14:section name="まとめ" id="{60328b38-8b32-88d2-d65e-6666d42f5afc}">
          <p14:sldIdLst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E1A22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0E1A22"/>
                </a:solidFill>
                <a:latin typeface="+mn-lt"/>
              </a:rPr>
              <a:t>サンプルレートごとの USB データ量（MB/s）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データ量 (MB/s)</c:v>
                </c:pt>
              </c:strCache>
            </c:strRef>
          </c:tx>
          <c:spPr>
            <a:solidFill>
              <a:srgbClr val="1597B5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D334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597B5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597B5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597B5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597B5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597B5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E8952B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2.4 MSPS</c:v>
                  </c:pt>
                  <c:pt idx="1">
                    <c:v>3.072 MSPS</c:v>
                  </c:pt>
                  <c:pt idx="2">
                    <c:v>4 MSPS</c:v>
                  </c:pt>
                  <c:pt idx="3">
                    <c:v>5 MSPS</c:v>
                  </c:pt>
                  <c:pt idx="4">
                    <c:v>6 MSPS</c:v>
                  </c:pt>
                  <c:pt idx="5">
                    <c:v>7.68 MSPS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9.6</c:v>
                </c:pt>
                <c:pt idx="1">
                  <c:v>12.3</c:v>
                </c:pt>
                <c:pt idx="2">
                  <c:v>16</c:v>
                </c:pt>
                <c:pt idx="3">
                  <c:v>20</c:v>
                </c:pt>
                <c:pt idx="4">
                  <c:v>24</c:v>
                </c:pt>
                <c:pt idx="5">
                  <c:v>30.7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000" u="none">
                  <a:solidFill>
                    <a:srgbClr val="1D334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8796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5"/>
          <c:min val="0"/>
        </c:scaling>
        <c:delete val="0"/>
        <c:axPos val="l"/>
        <c:majorGridlines>
          <c:spPr>
            <a:ln w="6350" cap="flat">
              <a:solidFill>
                <a:srgbClr val="DDE5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8796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Pluto Nano SDR は、ADALM-Pluto をブラウザだけで動かす SDR です。サーバーもドライバも要らず、Chrome でページを開くだけで受信と送信ができます。下に写っているのが実際のフロントパネルです。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特徴は 3 つです。ドライバもサーバーも要らないこと、70 MHz から 6 GHz まで受信できること、そしてアプリ全体が約 190 KB の HTML 1 ファイルに収まっていることです。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画面は SDR++ を参考にしたスペクトラムとウォーターフォールが中心で、上にアマチュア無線機風のフロントパネルを置いています。左のサイドバーで細かい設定をします。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Pluto との通信は、libiio の USB バックエンドに相当する部分を JavaScript で書いています。受信した I/Q は Web Worker で FFT と復調をして AudioWorklet で鳴らします。送信はその逆で、マイクの音を TX Worker で変調して Pluto に書き込みます。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フロントパネルは ICOM の無線機を参考にしました。S メーター、周波数表示、モードキーとバンドキー、メインダイヤルがあり、マウスで実機に近い感覚で操作できます。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受信は 6 モードに対応し、WFM はステレオで聞けます。各モードに 3 つのフィルタがあり、20 MHz 幅で掃引する広帯域スキャンもあります。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送信もできますが、誤って電波を出さないよう制限をかけています。日本のアマチュアバンドの中でしか送信せず、3 分で自動停止し、ウィンドウからフォーカスが外れても止まります。なお、実際に電波を出すには免許と無線設備の登録、外付けの LPF / BPF が必要です。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Pluto は USB 2.0 なので、サンプルレートを上げると USB の帯域が足りなくなります。連続受信は 6 MSPS 以下を推奨しています。2.083 MSPS 未満は FIR フィルタの読み込みが必要なので、2.4 MSPS が下限です。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WebUSB が必要なので Chrome か Edge で動きます。今のところ動作を確認したのは macOS だけです。PWA としてインストールすればアプリのように使え、オフラインでも起動します。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まとめると、ブラウザだけで Pluto を受信機と送信機として使え、操作は無線機に近く、送信には安全のための制限があります。今後は Windows や Linux での動作確認を進めたいと考えています。URL を開けばすぐ試せます。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TITLE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914400"/>
            <a:ext cx="804672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874520"/>
            <a:ext cx="804672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600" b="1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endParaRPr lang="en-US" sz="26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Pluto Nano SDR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CONTENT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6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hyperlink" Target="https://pokibon3.github.io/PlutoNano/" TargetMode="Externa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hyperlink" Target="https://pokibon3.github.io/PlutoNano/" TargetMode="Externa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91440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Pluto Nano SDR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8745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1"/>
                </a:solidFill>
              </a:rPr>
              <a:t>ブラウザだけで動く ADALM-Pluto 用 SDR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4688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v1.4.9 ・ 2026 年 10 月 ・ pokibon3</a:t>
            </a:r>
            <a:endParaRPr lang="en-US" sz="1200" dirty="0"/>
          </a:p>
        </p:txBody>
      </p:sp>
      <p:pic>
        <p:nvPicPr>
          <p:cNvPr id="5" name="front panel" descr="/private/tmp/claude-501/-Users-ooe-src-PlutoNano/afc82ae8-ec3a-4e55-aa0c-1b561c07a477/scratchpad/deck/pan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337560"/>
            <a:ext cx="8046720" cy="102412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インストール不要、Chrome で開くだけで使える</a:t>
            </a:r>
            <a:endParaRPr lang="en-US" sz="2600" dirty="0"/>
          </a:p>
        </p:txBody>
      </p:sp>
      <p:sp>
        <p:nvSpPr>
          <p:cNvPr id="3" name="stat card 1"/>
          <p:cNvSpPr/>
          <p:nvPr/>
        </p:nvSpPr>
        <p:spPr>
          <a:xfrm>
            <a:off x="457200" y="1234440"/>
            <a:ext cx="2560320" cy="310896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85800" y="146304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</a:t>
            </a:r>
            <a:endParaRPr lang="en-US" sz="60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4688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ドライバ・サーバー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92608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WebUSB で Pluto と直接通信する。アプリの導入は不要</a:t>
            </a:r>
            <a:endParaRPr lang="en-US" sz="1400" dirty="0"/>
          </a:p>
        </p:txBody>
      </p:sp>
      <p:sp>
        <p:nvSpPr>
          <p:cNvPr id="7" name="stat card 2"/>
          <p:cNvSpPr/>
          <p:nvPr/>
        </p:nvSpPr>
        <p:spPr>
          <a:xfrm>
            <a:off x="3291840" y="1234440"/>
            <a:ext cx="2560320" cy="310896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520440" y="146304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 GHz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3520440" y="24688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受信できる上限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3520440" y="292608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70 MHz〜6 GHz。AD9364 化した Pluto の全範囲</a:t>
            </a:r>
            <a:endParaRPr lang="en-US" sz="1400" dirty="0"/>
          </a:p>
        </p:txBody>
      </p:sp>
      <p:sp>
        <p:nvSpPr>
          <p:cNvPr id="11" name="stat card 3"/>
          <p:cNvSpPr/>
          <p:nvPr/>
        </p:nvSpPr>
        <p:spPr>
          <a:xfrm>
            <a:off x="6126480" y="1234440"/>
            <a:ext cx="2560320" cy="310896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355080" y="146304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 ファイル</a:t>
            </a:r>
            <a:endParaRPr lang="en-US" sz="3400" dirty="0"/>
          </a:p>
        </p:txBody>
      </p:sp>
      <p:sp>
        <p:nvSpPr>
          <p:cNvPr id="13" name="Text 11"/>
          <p:cNvSpPr txBox="1"/>
          <p:nvPr/>
        </p:nvSpPr>
        <p:spPr>
          <a:xfrm>
            <a:off x="6355080" y="24688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約 190 KB の HTML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355080" y="292608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JavaScript と CSS をすべて内蔵。ローカルでも動く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SDR++ 風の画面に、無線機風の操作パネル</a:t>
            </a:r>
            <a:endParaRPr lang="en-US" sz="2600" dirty="0"/>
          </a:p>
        </p:txBody>
      </p:sp>
      <p:pic>
        <p:nvPicPr>
          <p:cNvPr id="3" name="app screenshot" descr="/private/tmp/claude-501/-Users-ooe-src-PlutoNano/afc82ae8-ec3a-4e55-aa0c-1b561c07a477/scratchpad/deck/scre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5394960" cy="2235055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E1A22">
                <a:alpha val="25000"/>
              </a:srgbClr>
            </a:outerShdw>
          </a:effectLst>
        </p:spPr>
      </p:pic>
      <p:sp>
        <p:nvSpPr>
          <p:cNvPr id="4" name="Text 1"/>
          <p:cNvSpPr txBox="1"/>
          <p:nvPr/>
        </p:nvSpPr>
        <p:spPr>
          <a:xfrm>
            <a:off x="457200" y="3533503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擬似 Pluto（テスト用モック）で 80 MHz を受信中の画面</a:t>
            </a:r>
            <a:endParaRPr lang="en-US" sz="1000" dirty="0"/>
          </a:p>
        </p:txBody>
      </p:sp>
      <p:sp>
        <p:nvSpPr>
          <p:cNvPr id="5" name="part 1 circle"/>
          <p:cNvSpPr/>
          <p:nvPr/>
        </p:nvSpPr>
        <p:spPr>
          <a:xfrm>
            <a:off x="6172200" y="118872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part 1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2901" y="1309421"/>
            <a:ext cx="261518" cy="261518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812280" y="11887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フロントパネル</a:t>
            </a:r>
            <a:endParaRPr lang="en-US" sz="1400" dirty="0"/>
          </a:p>
        </p:txBody>
      </p:sp>
      <p:sp>
        <p:nvSpPr>
          <p:cNvPr id="8" name="Text 4"/>
          <p:cNvSpPr txBox="1"/>
          <p:nvPr/>
        </p:nvSpPr>
        <p:spPr>
          <a:xfrm>
            <a:off x="6812280" y="1517904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S メーター・周波数表示・ダイヤルを IC-7300 風に配置</a:t>
            </a:r>
            <a:endParaRPr lang="en-US" sz="1100" dirty="0"/>
          </a:p>
        </p:txBody>
      </p:sp>
      <p:sp>
        <p:nvSpPr>
          <p:cNvPr id="9" name="part 2 circle"/>
          <p:cNvSpPr/>
          <p:nvPr/>
        </p:nvSpPr>
        <p:spPr>
          <a:xfrm>
            <a:off x="6172200" y="2212848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part 2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2901" y="2333549"/>
            <a:ext cx="261518" cy="261518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6812280" y="221284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スペクトラム表示</a:t>
            </a:r>
            <a:endParaRPr lang="en-US" sz="1400" dirty="0"/>
          </a:p>
        </p:txBody>
      </p:sp>
      <p:sp>
        <p:nvSpPr>
          <p:cNvPr id="12" name="Text 7"/>
          <p:cNvSpPr txBox="1"/>
          <p:nvPr/>
        </p:nvSpPr>
        <p:spPr>
          <a:xfrm>
            <a:off x="6812280" y="2542032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ウォーターフォール付き。クリックで同調、ドラッグでスクロール</a:t>
            </a:r>
            <a:endParaRPr lang="en-US" sz="1100" dirty="0"/>
          </a:p>
        </p:txBody>
      </p:sp>
      <p:sp>
        <p:nvSpPr>
          <p:cNvPr id="13" name="part 3 circle"/>
          <p:cNvSpPr/>
          <p:nvPr/>
        </p:nvSpPr>
        <p:spPr>
          <a:xfrm>
            <a:off x="6172200" y="3236976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4" name="part 3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2901" y="3357677"/>
            <a:ext cx="261518" cy="261518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6812280" y="3236976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サイドバー</a:t>
            </a:r>
            <a:endParaRPr lang="en-US" sz="1400" dirty="0"/>
          </a:p>
        </p:txBody>
      </p:sp>
      <p:sp>
        <p:nvSpPr>
          <p:cNvPr id="16" name="Text 10"/>
          <p:cNvSpPr txBox="1"/>
          <p:nvPr/>
        </p:nvSpPr>
        <p:spPr>
          <a:xfrm>
            <a:off x="6812280" y="356616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サンプルレート・ゲイン・音声デバイス・送信などの設定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WebUSB で Pluto と直接やりとりする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344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97B5"/>
                </a:solidFill>
              </a:rPr>
              <a:t>受信</a:t>
            </a:r>
            <a:endParaRPr lang="en-US" sz="1400" dirty="0"/>
          </a:p>
        </p:txBody>
      </p:sp>
      <p:sp>
        <p:nvSpPr>
          <p:cNvPr id="4" name="受信 1"/>
          <p:cNvSpPr/>
          <p:nvPr/>
        </p:nvSpPr>
        <p:spPr>
          <a:xfrm>
            <a:off x="1325880" y="1234440"/>
            <a:ext cx="1216152" cy="822960"/>
          </a:xfrm>
          <a:prstGeom prst="roundRect">
            <a:avLst>
              <a:gd name="adj" fmla="val 8889"/>
            </a:avLst>
          </a:prstGeom>
          <a:solidFill>
            <a:schemeClr val="tx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325880" y="1234440"/>
            <a:ext cx="1216152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Pluto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accent1"/>
                </a:solidFill>
              </a:rPr>
              <a:t>AD9364 / IIOD</a:t>
            </a:r>
            <a:endParaRPr lang="en-US" sz="1200" dirty="0"/>
          </a:p>
        </p:txBody>
      </p:sp>
      <p:sp>
        <p:nvSpPr>
          <p:cNvPr id="6" name="受信 arrow 1"/>
          <p:cNvSpPr/>
          <p:nvPr/>
        </p:nvSpPr>
        <p:spPr>
          <a:xfrm rot="5400000">
            <a:off x="2592324" y="1572768"/>
            <a:ext cx="219456" cy="146304"/>
          </a:xfrm>
          <a:prstGeom prst="triangle">
            <a:avLst/>
          </a:prstGeom>
          <a:solidFill>
            <a:srgbClr val="1597B5"/>
          </a:solidFill>
          <a:ln/>
        </p:spPr>
      </p:sp>
      <p:sp>
        <p:nvSpPr>
          <p:cNvPr id="7" name="受信 2"/>
          <p:cNvSpPr/>
          <p:nvPr/>
        </p:nvSpPr>
        <p:spPr>
          <a:xfrm>
            <a:off x="2862072" y="1234440"/>
            <a:ext cx="1216152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862072" y="1234440"/>
            <a:ext cx="1216152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pluto.js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I/Q を受け取る</a:t>
            </a:r>
            <a:endParaRPr lang="en-US" sz="1200" dirty="0"/>
          </a:p>
        </p:txBody>
      </p:sp>
      <p:sp>
        <p:nvSpPr>
          <p:cNvPr id="9" name="受信 arrow 2"/>
          <p:cNvSpPr/>
          <p:nvPr/>
        </p:nvSpPr>
        <p:spPr>
          <a:xfrm rot="5400000">
            <a:off x="4128516" y="1572768"/>
            <a:ext cx="219456" cy="146304"/>
          </a:xfrm>
          <a:prstGeom prst="triangle">
            <a:avLst/>
          </a:prstGeom>
          <a:solidFill>
            <a:srgbClr val="1597B5"/>
          </a:solidFill>
          <a:ln/>
        </p:spPr>
      </p:sp>
      <p:sp>
        <p:nvSpPr>
          <p:cNvPr id="10" name="受信 3"/>
          <p:cNvSpPr/>
          <p:nvPr/>
        </p:nvSpPr>
        <p:spPr>
          <a:xfrm>
            <a:off x="4398264" y="1234440"/>
            <a:ext cx="1216152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398264" y="1234440"/>
            <a:ext cx="1216152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DSP Worker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FFT・復調</a:t>
            </a:r>
            <a:endParaRPr lang="en-US" sz="1200" dirty="0"/>
          </a:p>
        </p:txBody>
      </p:sp>
      <p:sp>
        <p:nvSpPr>
          <p:cNvPr id="12" name="受信 arrow 3"/>
          <p:cNvSpPr/>
          <p:nvPr/>
        </p:nvSpPr>
        <p:spPr>
          <a:xfrm rot="5400000">
            <a:off x="5664708" y="1572768"/>
            <a:ext cx="219456" cy="146304"/>
          </a:xfrm>
          <a:prstGeom prst="triangle">
            <a:avLst/>
          </a:prstGeom>
          <a:solidFill>
            <a:srgbClr val="1597B5"/>
          </a:solidFill>
          <a:ln/>
        </p:spPr>
      </p:sp>
      <p:sp>
        <p:nvSpPr>
          <p:cNvPr id="13" name="受信 4"/>
          <p:cNvSpPr/>
          <p:nvPr/>
        </p:nvSpPr>
        <p:spPr>
          <a:xfrm>
            <a:off x="5934456" y="1234440"/>
            <a:ext cx="1216152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934456" y="1234440"/>
            <a:ext cx="1216152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AudioWorklet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音声出力</a:t>
            </a:r>
            <a:endParaRPr lang="en-US" sz="1200" dirty="0"/>
          </a:p>
        </p:txBody>
      </p:sp>
      <p:sp>
        <p:nvSpPr>
          <p:cNvPr id="15" name="受信 arrow 4"/>
          <p:cNvSpPr/>
          <p:nvPr/>
        </p:nvSpPr>
        <p:spPr>
          <a:xfrm rot="5400000">
            <a:off x="7200900" y="1572768"/>
            <a:ext cx="219456" cy="146304"/>
          </a:xfrm>
          <a:prstGeom prst="triangle">
            <a:avLst/>
          </a:prstGeom>
          <a:solidFill>
            <a:srgbClr val="1597B5"/>
          </a:solidFill>
          <a:ln/>
        </p:spPr>
      </p:sp>
      <p:sp>
        <p:nvSpPr>
          <p:cNvPr id="16" name="受信 5"/>
          <p:cNvSpPr/>
          <p:nvPr/>
        </p:nvSpPr>
        <p:spPr>
          <a:xfrm>
            <a:off x="7470648" y="1234440"/>
            <a:ext cx="1216152" cy="822960"/>
          </a:xfrm>
          <a:prstGeom prst="roundRect">
            <a:avLst>
              <a:gd name="adj" fmla="val 8889"/>
            </a:avLst>
          </a:prstGeom>
          <a:solidFill>
            <a:schemeClr val="tx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470648" y="1234440"/>
            <a:ext cx="1216152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スピーカー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accent1"/>
                </a:solidFill>
              </a:rPr>
              <a:t>出力先を選べる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24231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434A"/>
                </a:solidFill>
              </a:rPr>
              <a:t>送信</a:t>
            </a:r>
            <a:endParaRPr lang="en-US" sz="1400" dirty="0"/>
          </a:p>
        </p:txBody>
      </p:sp>
      <p:sp>
        <p:nvSpPr>
          <p:cNvPr id="19" name="送信 1"/>
          <p:cNvSpPr/>
          <p:nvPr/>
        </p:nvSpPr>
        <p:spPr>
          <a:xfrm>
            <a:off x="1325880" y="2423160"/>
            <a:ext cx="1216152" cy="822960"/>
          </a:xfrm>
          <a:prstGeom prst="roundRect">
            <a:avLst>
              <a:gd name="adj" fmla="val 8889"/>
            </a:avLst>
          </a:prstGeom>
          <a:solidFill>
            <a:schemeClr val="tx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1325880" y="2423160"/>
            <a:ext cx="1216152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マイク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accent1"/>
                </a:solidFill>
              </a:rPr>
              <a:t>入力元を選べる</a:t>
            </a:r>
            <a:endParaRPr lang="en-US" sz="1200" dirty="0"/>
          </a:p>
        </p:txBody>
      </p:sp>
      <p:sp>
        <p:nvSpPr>
          <p:cNvPr id="21" name="送信 arrow 1"/>
          <p:cNvSpPr/>
          <p:nvPr/>
        </p:nvSpPr>
        <p:spPr>
          <a:xfrm rot="5400000">
            <a:off x="2592324" y="2761488"/>
            <a:ext cx="219456" cy="146304"/>
          </a:xfrm>
          <a:prstGeom prst="triangle">
            <a:avLst/>
          </a:prstGeom>
          <a:solidFill>
            <a:srgbClr val="D9434A"/>
          </a:solidFill>
          <a:ln/>
        </p:spPr>
      </p:sp>
      <p:sp>
        <p:nvSpPr>
          <p:cNvPr id="22" name="送信 2"/>
          <p:cNvSpPr/>
          <p:nvPr/>
        </p:nvSpPr>
        <p:spPr>
          <a:xfrm>
            <a:off x="2862072" y="2423160"/>
            <a:ext cx="1216152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2862072" y="2423160"/>
            <a:ext cx="1216152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AudioWorklet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マイク取り込み</a:t>
            </a:r>
            <a:endParaRPr lang="en-US" sz="1200" dirty="0"/>
          </a:p>
        </p:txBody>
      </p:sp>
      <p:sp>
        <p:nvSpPr>
          <p:cNvPr id="24" name="送信 arrow 2"/>
          <p:cNvSpPr/>
          <p:nvPr/>
        </p:nvSpPr>
        <p:spPr>
          <a:xfrm rot="5400000">
            <a:off x="4128516" y="2761488"/>
            <a:ext cx="219456" cy="146304"/>
          </a:xfrm>
          <a:prstGeom prst="triangle">
            <a:avLst/>
          </a:prstGeom>
          <a:solidFill>
            <a:srgbClr val="D9434A"/>
          </a:solidFill>
          <a:ln/>
        </p:spPr>
      </p:sp>
      <p:sp>
        <p:nvSpPr>
          <p:cNvPr id="25" name="送信 3"/>
          <p:cNvSpPr/>
          <p:nvPr/>
        </p:nvSpPr>
        <p:spPr>
          <a:xfrm>
            <a:off x="4398264" y="2423160"/>
            <a:ext cx="1216152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398264" y="2423160"/>
            <a:ext cx="1216152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TX Worker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変調 → I/Q</a:t>
            </a:r>
            <a:endParaRPr lang="en-US" sz="1200" dirty="0"/>
          </a:p>
        </p:txBody>
      </p:sp>
      <p:sp>
        <p:nvSpPr>
          <p:cNvPr id="27" name="送信 arrow 3"/>
          <p:cNvSpPr/>
          <p:nvPr/>
        </p:nvSpPr>
        <p:spPr>
          <a:xfrm rot="5400000">
            <a:off x="5664708" y="2761488"/>
            <a:ext cx="219456" cy="146304"/>
          </a:xfrm>
          <a:prstGeom prst="triangle">
            <a:avLst/>
          </a:prstGeom>
          <a:solidFill>
            <a:srgbClr val="D9434A"/>
          </a:solidFill>
          <a:ln/>
        </p:spPr>
      </p:sp>
      <p:sp>
        <p:nvSpPr>
          <p:cNvPr id="28" name="送信 4"/>
          <p:cNvSpPr/>
          <p:nvPr/>
        </p:nvSpPr>
        <p:spPr>
          <a:xfrm>
            <a:off x="5934456" y="2423160"/>
            <a:ext cx="1216152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5934456" y="2423160"/>
            <a:ext cx="1216152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pluto.js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I/Q を書き込む</a:t>
            </a:r>
            <a:endParaRPr lang="en-US" sz="1200" dirty="0"/>
          </a:p>
        </p:txBody>
      </p:sp>
      <p:sp>
        <p:nvSpPr>
          <p:cNvPr id="30" name="送信 arrow 4"/>
          <p:cNvSpPr/>
          <p:nvPr/>
        </p:nvSpPr>
        <p:spPr>
          <a:xfrm rot="5400000">
            <a:off x="7200900" y="2761488"/>
            <a:ext cx="219456" cy="146304"/>
          </a:xfrm>
          <a:prstGeom prst="triangle">
            <a:avLst/>
          </a:prstGeom>
          <a:solidFill>
            <a:srgbClr val="D9434A"/>
          </a:solidFill>
          <a:ln/>
        </p:spPr>
      </p:sp>
      <p:sp>
        <p:nvSpPr>
          <p:cNvPr id="31" name="送信 5"/>
          <p:cNvSpPr/>
          <p:nvPr/>
        </p:nvSpPr>
        <p:spPr>
          <a:xfrm>
            <a:off x="7470648" y="2423160"/>
            <a:ext cx="1216152" cy="822960"/>
          </a:xfrm>
          <a:prstGeom prst="roundRect">
            <a:avLst>
              <a:gd name="adj" fmla="val 8889"/>
            </a:avLst>
          </a:prstGeom>
          <a:solidFill>
            <a:schemeClr val="tx1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7470648" y="2423160"/>
            <a:ext cx="1216152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Pluto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accent1"/>
                </a:solidFill>
              </a:rPr>
              <a:t>電波を出す</a:t>
            </a:r>
            <a:endParaRPr lang="en-US" sz="1200" dirty="0"/>
          </a:p>
        </p:txBody>
      </p:sp>
      <p:sp>
        <p:nvSpPr>
          <p:cNvPr id="33" name="arch note"/>
          <p:cNvSpPr/>
          <p:nvPr/>
        </p:nvSpPr>
        <p:spPr>
          <a:xfrm>
            <a:off x="457200" y="3566160"/>
            <a:ext cx="822960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685800" y="3566160"/>
            <a:ext cx="7772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重い処理はすべて Web Worker / AudioWorklet で動かし、画面描画（Canvas）を止めない。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libiio の USB バックエンドに相当する IIOD プロトコルを JavaScript で実装している。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操作は無線機と同じ感覚</a:t>
            </a:r>
            <a:endParaRPr lang="en-US" sz="2600" dirty="0"/>
          </a:p>
        </p:txBody>
      </p:sp>
      <p:pic>
        <p:nvPicPr>
          <p:cNvPr id="3" name="front panel" descr="/private/tmp/claude-501/-Users-ooe-src-PlutoNano/afc82ae8-ec3a-4e55-aa0c-1b561c07a477/scratchpad/deck/pan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8229600" cy="1047404"/>
          </a:xfrm>
          <a:prstGeom prst="rect">
            <a:avLst/>
          </a:prstGeom>
        </p:spPr>
      </p:pic>
      <p:sp>
        <p:nvSpPr>
          <p:cNvPr id="4" name="control 1"/>
          <p:cNvSpPr/>
          <p:nvPr/>
        </p:nvSpPr>
        <p:spPr>
          <a:xfrm>
            <a:off x="457200" y="2606040"/>
            <a:ext cx="1920240" cy="1554480"/>
          </a:xfrm>
          <a:prstGeom prst="roundRect">
            <a:avLst>
              <a:gd name="adj" fmla="val 4706"/>
            </a:avLst>
          </a:prstGeom>
          <a:solidFill>
            <a:schemeClr val="tx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640080" y="27889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S メーター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3200400"/>
            <a:ext cx="1554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S / dBm / dBFS の 3 目盛り。送信中は PO メーター</a:t>
            </a:r>
            <a:endParaRPr lang="en-US" sz="1200" dirty="0"/>
          </a:p>
        </p:txBody>
      </p:sp>
      <p:sp>
        <p:nvSpPr>
          <p:cNvPr id="7" name="control 2"/>
          <p:cNvSpPr/>
          <p:nvPr/>
        </p:nvSpPr>
        <p:spPr>
          <a:xfrm>
            <a:off x="2560320" y="2606040"/>
            <a:ext cx="1920240" cy="1554480"/>
          </a:xfrm>
          <a:prstGeom prst="roundRect">
            <a:avLst>
              <a:gd name="adj" fmla="val 4706"/>
            </a:avLst>
          </a:prstGeom>
          <a:solidFill>
            <a:schemeClr val="tx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2743200" y="27889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周波数表示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2743200" y="3200400"/>
            <a:ext cx="1554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桁ごとにホイールで変更、ダブルクリックで直接入力</a:t>
            </a:r>
            <a:endParaRPr lang="en-US" sz="1200" dirty="0"/>
          </a:p>
        </p:txBody>
      </p:sp>
      <p:sp>
        <p:nvSpPr>
          <p:cNvPr id="10" name="control 3"/>
          <p:cNvSpPr/>
          <p:nvPr/>
        </p:nvSpPr>
        <p:spPr>
          <a:xfrm>
            <a:off x="4663440" y="2606040"/>
            <a:ext cx="1920240" cy="1554480"/>
          </a:xfrm>
          <a:prstGeom prst="roundRect">
            <a:avLst>
              <a:gd name="adj" fmla="val 4706"/>
            </a:avLst>
          </a:prstGeom>
          <a:solidFill>
            <a:schemeClr val="tx2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846320" y="27889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モード・バンド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4846320" y="3200400"/>
            <a:ext cx="1554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NFM〜CW の 6 モードと、日本のアマチュアバンド</a:t>
            </a:r>
            <a:endParaRPr lang="en-US" sz="1200" dirty="0"/>
          </a:p>
        </p:txBody>
      </p:sp>
      <p:sp>
        <p:nvSpPr>
          <p:cNvPr id="13" name="control 4"/>
          <p:cNvSpPr/>
          <p:nvPr/>
        </p:nvSpPr>
        <p:spPr>
          <a:xfrm>
            <a:off x="6766560" y="2606040"/>
            <a:ext cx="1920240" cy="1554480"/>
          </a:xfrm>
          <a:prstGeom prst="roundRect">
            <a:avLst>
              <a:gd name="adj" fmla="val 4706"/>
            </a:avLst>
          </a:prstGeom>
          <a:solidFill>
            <a:schemeClr val="tx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949440" y="27889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メインダイヤル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6949440" y="3200400"/>
            <a:ext cx="1554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ドラッグで回す。勢いよく回すと惰性で回り続ける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6 つの復調モードと広帯域スキャン</a:t>
            </a:r>
            <a:endParaRPr lang="en-US" sz="2600" dirty="0"/>
          </a:p>
        </p:txBody>
      </p:sp>
      <p:sp>
        <p:nvSpPr>
          <p:cNvPr id="3" name="feature 1"/>
          <p:cNvSpPr/>
          <p:nvPr/>
        </p:nvSpPr>
        <p:spPr>
          <a:xfrm>
            <a:off x="457200" y="1188720"/>
            <a:ext cx="256032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4" name="feature 1 circle"/>
          <p:cNvSpPr/>
          <p:nvPr/>
        </p:nvSpPr>
        <p:spPr>
          <a:xfrm>
            <a:off x="640080" y="138988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feature 1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499616"/>
            <a:ext cx="237744" cy="23774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34440" y="138988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6 モードを復調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938528"/>
            <a:ext cx="2240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WFM（ステレオ）/ NFM / AM / USB / LSB / CW</a:t>
            </a:r>
            <a:endParaRPr lang="en-US" sz="1200" dirty="0"/>
          </a:p>
        </p:txBody>
      </p:sp>
      <p:sp>
        <p:nvSpPr>
          <p:cNvPr id="8" name="feature 2"/>
          <p:cNvSpPr/>
          <p:nvPr/>
        </p:nvSpPr>
        <p:spPr>
          <a:xfrm>
            <a:off x="3291840" y="1188720"/>
            <a:ext cx="256032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9" name="feature 2 circle"/>
          <p:cNvSpPr/>
          <p:nvPr/>
        </p:nvSpPr>
        <p:spPr>
          <a:xfrm>
            <a:off x="3474720" y="138988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feature 2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4448" y="1499616"/>
            <a:ext cx="237744" cy="23774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069080" y="138988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3 つのフィルタ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3474720" y="1938528"/>
            <a:ext cx="2240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モードごとに FIL1〜3 を切り替え。帯域幅は記憶される</a:t>
            </a:r>
            <a:endParaRPr lang="en-US" sz="1200" dirty="0"/>
          </a:p>
        </p:txBody>
      </p:sp>
      <p:sp>
        <p:nvSpPr>
          <p:cNvPr id="13" name="feature 3"/>
          <p:cNvSpPr/>
          <p:nvPr/>
        </p:nvSpPr>
        <p:spPr>
          <a:xfrm>
            <a:off x="6126480" y="1188720"/>
            <a:ext cx="256032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14" name="feature 3 circle"/>
          <p:cNvSpPr/>
          <p:nvPr/>
        </p:nvSpPr>
        <p:spPr>
          <a:xfrm>
            <a:off x="6309360" y="138988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feature 3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9088" y="1499616"/>
            <a:ext cx="237744" cy="23774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903720" y="138988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Wideband scan</a:t>
            </a:r>
            <a:endParaRPr lang="en-US" sz="1400" dirty="0"/>
          </a:p>
        </p:txBody>
      </p:sp>
      <p:sp>
        <p:nvSpPr>
          <p:cNvPr id="17" name="Text 12"/>
          <p:cNvSpPr txBox="1"/>
          <p:nvPr/>
        </p:nvSpPr>
        <p:spPr>
          <a:xfrm>
            <a:off x="6309360" y="1938528"/>
            <a:ext cx="2240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20 MSPS・16 MHz ステップで掃引。クリックで受信</a:t>
            </a:r>
            <a:endParaRPr lang="en-US" sz="1200" dirty="0"/>
          </a:p>
        </p:txBody>
      </p:sp>
      <p:sp>
        <p:nvSpPr>
          <p:cNvPr id="18" name="feature 4"/>
          <p:cNvSpPr/>
          <p:nvPr/>
        </p:nvSpPr>
        <p:spPr>
          <a:xfrm>
            <a:off x="457200" y="2880360"/>
            <a:ext cx="256032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19" name="feature 4 circle"/>
          <p:cNvSpPr/>
          <p:nvPr/>
        </p:nvSpPr>
        <p:spPr>
          <a:xfrm>
            <a:off x="640080" y="308152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0" name="feature 4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" y="3191256"/>
            <a:ext cx="237744" cy="237744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234440" y="308152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 メーター校正</a:t>
            </a:r>
            <a:endParaRPr lang="en-US" sz="1400" dirty="0"/>
          </a:p>
        </p:txBody>
      </p:sp>
      <p:sp>
        <p:nvSpPr>
          <p:cNvPr id="22" name="Text 16"/>
          <p:cNvSpPr txBox="1"/>
          <p:nvPr/>
        </p:nvSpPr>
        <p:spPr>
          <a:xfrm>
            <a:off x="640080" y="3630168"/>
            <a:ext cx="2240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既知の信号で dBm 表示を合わせられる</a:t>
            </a:r>
            <a:endParaRPr lang="en-US" sz="1200" dirty="0"/>
          </a:p>
        </p:txBody>
      </p:sp>
      <p:sp>
        <p:nvSpPr>
          <p:cNvPr id="23" name="feature 5"/>
          <p:cNvSpPr/>
          <p:nvPr/>
        </p:nvSpPr>
        <p:spPr>
          <a:xfrm>
            <a:off x="3291840" y="2880360"/>
            <a:ext cx="256032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24" name="feature 5 circle"/>
          <p:cNvSpPr/>
          <p:nvPr/>
        </p:nvSpPr>
        <p:spPr>
          <a:xfrm>
            <a:off x="3474720" y="308152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5" name="feature 5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84448" y="3191256"/>
            <a:ext cx="237744" cy="237744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4069080" y="308152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周波数補正</a:t>
            </a:r>
            <a:endParaRPr lang="en-US" sz="1400" dirty="0"/>
          </a:p>
        </p:txBody>
      </p:sp>
      <p:sp>
        <p:nvSpPr>
          <p:cNvPr id="27" name="Text 20"/>
          <p:cNvSpPr txBox="1"/>
          <p:nvPr/>
        </p:nvSpPr>
        <p:spPr>
          <a:xfrm>
            <a:off x="3474720" y="3630168"/>
            <a:ext cx="2240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Pluto の水晶の誤差を ppm で補正</a:t>
            </a:r>
            <a:endParaRPr lang="en-US" sz="1200" dirty="0"/>
          </a:p>
        </p:txBody>
      </p:sp>
      <p:sp>
        <p:nvSpPr>
          <p:cNvPr id="28" name="feature 6"/>
          <p:cNvSpPr/>
          <p:nvPr/>
        </p:nvSpPr>
        <p:spPr>
          <a:xfrm>
            <a:off x="6126480" y="2880360"/>
            <a:ext cx="256032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29" name="feature 6 circle"/>
          <p:cNvSpPr/>
          <p:nvPr/>
        </p:nvSpPr>
        <p:spPr>
          <a:xfrm>
            <a:off x="6309360" y="308152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0" name="feature 6 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19088" y="3191256"/>
            <a:ext cx="237744" cy="237744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6903720" y="308152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バンドメモリ</a:t>
            </a:r>
            <a:endParaRPr lang="en-US" sz="1400" dirty="0"/>
          </a:p>
        </p:txBody>
      </p:sp>
      <p:sp>
        <p:nvSpPr>
          <p:cNvPr id="32" name="Text 24"/>
          <p:cNvSpPr txBox="1"/>
          <p:nvPr/>
        </p:nvSpPr>
        <p:spPr>
          <a:xfrm>
            <a:off x="6309360" y="3630168"/>
            <a:ext cx="2240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バンドごとに最後の周波数とモードを記憶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送信には誤送信を防ぐ仕組みがある</a:t>
            </a:r>
            <a:endParaRPr lang="en-US" sz="2600" dirty="0"/>
          </a:p>
        </p:txBody>
      </p:sp>
      <p:sp>
        <p:nvSpPr>
          <p:cNvPr id="3" name="tx modes"/>
          <p:cNvSpPr/>
          <p:nvPr/>
        </p:nvSpPr>
        <p:spPr>
          <a:xfrm>
            <a:off x="457200" y="1188720"/>
            <a:ext cx="3291840" cy="3246120"/>
          </a:xfrm>
          <a:prstGeom prst="roundRect">
            <a:avLst>
              <a:gd name="adj" fmla="val 2254"/>
            </a:avLst>
          </a:prstGeom>
          <a:solidFill>
            <a:schemeClr val="bg2"/>
          </a:solidFill>
          <a:ln/>
        </p:spPr>
      </p:sp>
      <p:sp>
        <p:nvSpPr>
          <p:cNvPr id="4" name="tx circle"/>
          <p:cNvSpPr/>
          <p:nvPr/>
        </p:nvSpPr>
        <p:spPr>
          <a:xfrm>
            <a:off x="685800" y="1371600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5" name="tx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" y="1481328"/>
            <a:ext cx="237744" cy="23774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80160" y="13716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送信できるモード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2011680"/>
            <a:ext cx="2880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NFM（偏移 ±5 kHz）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AM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USB / LSB（FIL の帯域）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CW（Space キーが電鍵）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329184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PTT は Space キーか PTT ボタン。最大出力は約 +7 dBm</a:t>
            </a:r>
            <a:endParaRPr lang="en-US" sz="1100" dirty="0"/>
          </a:p>
        </p:txBody>
      </p:sp>
      <p:sp>
        <p:nvSpPr>
          <p:cNvPr id="9" name="guard 1 circle"/>
          <p:cNvSpPr/>
          <p:nvPr/>
        </p:nvSpPr>
        <p:spPr>
          <a:xfrm>
            <a:off x="4114800" y="1234440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0" name="guard 1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4528" y="1344168"/>
            <a:ext cx="237744" cy="23774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754880" y="118872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バンドの外では送信しない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4754880" y="1490472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電波の幅が日本のアマチュアバンドに収まるときだけ</a:t>
            </a:r>
            <a:endParaRPr lang="en-US" sz="1200" dirty="0"/>
          </a:p>
        </p:txBody>
      </p:sp>
      <p:sp>
        <p:nvSpPr>
          <p:cNvPr id="13" name="guard 2 circle"/>
          <p:cNvSpPr/>
          <p:nvPr/>
        </p:nvSpPr>
        <p:spPr>
          <a:xfrm>
            <a:off x="4114800" y="2075688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4" name="guard 2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4528" y="2185416"/>
            <a:ext cx="237744" cy="237744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4754880" y="202996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3 分で自動停止</a:t>
            </a:r>
            <a:endParaRPr lang="en-US" sz="1400" dirty="0"/>
          </a:p>
        </p:txBody>
      </p:sp>
      <p:sp>
        <p:nvSpPr>
          <p:cNvPr id="16" name="Text 11"/>
          <p:cNvSpPr txBox="1"/>
          <p:nvPr/>
        </p:nvSpPr>
        <p:spPr>
          <a:xfrm>
            <a:off x="4754880" y="233172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タイムアウトタイマーで送信を止める</a:t>
            </a:r>
            <a:endParaRPr lang="en-US" sz="1200" dirty="0"/>
          </a:p>
        </p:txBody>
      </p:sp>
      <p:sp>
        <p:nvSpPr>
          <p:cNvPr id="17" name="guard 3 circle"/>
          <p:cNvSpPr/>
          <p:nvPr/>
        </p:nvSpPr>
        <p:spPr>
          <a:xfrm>
            <a:off x="4114800" y="2916936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8" name="guard 3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24528" y="3026664"/>
            <a:ext cx="237744" cy="237744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4754880" y="2871216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フォーカスが外れたら停止</a:t>
            </a:r>
            <a:endParaRPr lang="en-US" sz="1400" dirty="0"/>
          </a:p>
        </p:txBody>
      </p:sp>
      <p:sp>
        <p:nvSpPr>
          <p:cNvPr id="20" name="Text 14"/>
          <p:cNvSpPr txBox="1"/>
          <p:nvPr/>
        </p:nvSpPr>
        <p:spPr>
          <a:xfrm>
            <a:off x="4754880" y="317296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ウィンドウを離れると PTT が切れる</a:t>
            </a:r>
            <a:endParaRPr lang="en-US" sz="1200" dirty="0"/>
          </a:p>
        </p:txBody>
      </p:sp>
      <p:sp>
        <p:nvSpPr>
          <p:cNvPr id="21" name="guard 4 circle"/>
          <p:cNvSpPr/>
          <p:nvPr/>
        </p:nvSpPr>
        <p:spPr>
          <a:xfrm>
            <a:off x="4114800" y="3758184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2" name="guard 4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24528" y="3867912"/>
            <a:ext cx="237744" cy="237744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4754880" y="371246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待機中は最小出力</a:t>
            </a:r>
            <a:endParaRPr lang="en-US" sz="1400" dirty="0"/>
          </a:p>
        </p:txBody>
      </p:sp>
      <p:sp>
        <p:nvSpPr>
          <p:cNvPr id="24" name="Text 17"/>
          <p:cNvSpPr txBox="1"/>
          <p:nvPr/>
        </p:nvSpPr>
        <p:spPr>
          <a:xfrm>
            <a:off x="4754880" y="4014216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TX 減衰を −89.75 dB にしてテスト信号を抑える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USB 2.0 の帯域が受信レートの上限を決める</a:t>
            </a:r>
            <a:endParaRPr lang="en-US" sz="2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143000"/>
          <a:ext cx="5120640" cy="3429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572000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I/Q 各 16 bit（1 サンプル 4 バイト）で計算</a:t>
            </a:r>
            <a:endParaRPr lang="en-US" sz="1000" dirty="0"/>
          </a:p>
        </p:txBody>
      </p:sp>
      <p:sp>
        <p:nvSpPr>
          <p:cNvPr id="5" name="rec 1"/>
          <p:cNvSpPr/>
          <p:nvPr/>
        </p:nvSpPr>
        <p:spPr>
          <a:xfrm>
            <a:off x="5943600" y="1234440"/>
            <a:ext cx="274320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6126480" y="13258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6 MSPS 以下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6126480" y="16459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連続受信の推奨。USB 2.0 の実効上限は約 8 MSPS</a:t>
            </a:r>
            <a:endParaRPr lang="en-US" sz="1100" dirty="0"/>
          </a:p>
        </p:txBody>
      </p:sp>
      <p:sp>
        <p:nvSpPr>
          <p:cNvPr id="8" name="rec 2"/>
          <p:cNvSpPr/>
          <p:nvPr/>
        </p:nvSpPr>
        <p:spPr>
          <a:xfrm>
            <a:off x="5943600" y="2331720"/>
            <a:ext cx="274320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126480" y="24231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7.68 MSPS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6126480" y="27432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選べるが、音が途切れることがある</a:t>
            </a:r>
            <a:endParaRPr lang="en-US" sz="1100" dirty="0"/>
          </a:p>
        </p:txBody>
      </p:sp>
      <p:sp>
        <p:nvSpPr>
          <p:cNvPr id="11" name="rec 3"/>
          <p:cNvSpPr/>
          <p:nvPr/>
        </p:nvSpPr>
        <p:spPr>
          <a:xfrm>
            <a:off x="5943600" y="3429000"/>
            <a:ext cx="274320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6126480" y="35204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2.4 MSPS 前後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6126480" y="38404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送信中の推奨。送受信の両方を USB で流すため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PWA でインストール、オフラインでも起動</a:t>
            </a:r>
            <a:endParaRPr lang="en-US" sz="2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493776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6517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環境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D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3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状況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D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34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22"/>
                          </a:solidFill>
                        </a:rPr>
                        <a:t>macOS + Chrome / Edge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D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A9D63"/>
                          </a:solidFill>
                        </a:rPr>
                        <a:t>動作確認済み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D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22"/>
                          </a:solidFill>
                        </a:rPr>
                        <a:t>Windows + Chrome / Edge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D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B8796"/>
                          </a:solidFill>
                        </a:rPr>
                        <a:t>未確認（WinUSB が必要）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D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22"/>
                          </a:solidFill>
                        </a:rPr>
                        <a:t>Linux + Chrome / Edge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D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B8796"/>
                          </a:solidFill>
                        </a:rPr>
                        <a:t>未確認（udev ルールが必要）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D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22"/>
                          </a:solidFill>
                        </a:rPr>
                        <a:t>ChromeOS / Android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D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B8796"/>
                          </a:solidFill>
                        </a:rPr>
                        <a:t>未確認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D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22"/>
                          </a:solidFill>
                        </a:rPr>
                        <a:t>Safari・Firefox・iPhone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D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D9434A"/>
                          </a:solidFill>
                        </a:rPr>
                        <a:t>動かない（WebUSB 非対応）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D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pwa 1 circle"/>
          <p:cNvSpPr/>
          <p:nvPr/>
        </p:nvSpPr>
        <p:spPr>
          <a:xfrm>
            <a:off x="5760720" y="12344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pwa 1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70448" y="1344168"/>
            <a:ext cx="237744" cy="237744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6400800" y="11887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アプリとしてインストール</a:t>
            </a:r>
            <a:endParaRPr lang="en-US" sz="1400" dirty="0"/>
          </a:p>
        </p:txBody>
      </p:sp>
      <p:sp>
        <p:nvSpPr>
          <p:cNvPr id="7" name="Text 3"/>
          <p:cNvSpPr txBox="1"/>
          <p:nvPr/>
        </p:nvSpPr>
        <p:spPr>
          <a:xfrm>
            <a:off x="6400800" y="1517904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独立ウィンドウで開き、Dock から起動</a:t>
            </a:r>
            <a:endParaRPr lang="en-US" sz="1200" dirty="0"/>
          </a:p>
        </p:txBody>
      </p:sp>
      <p:sp>
        <p:nvSpPr>
          <p:cNvPr id="8" name="pwa 2 circle"/>
          <p:cNvSpPr/>
          <p:nvPr/>
        </p:nvSpPr>
        <p:spPr>
          <a:xfrm>
            <a:off x="5760720" y="21945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9" name="pwa 2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0448" y="2304288"/>
            <a:ext cx="237744" cy="237744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6400800" y="21488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オフラインでも起動</a:t>
            </a:r>
            <a:endParaRPr lang="en-US" sz="1400" dirty="0"/>
          </a:p>
        </p:txBody>
      </p:sp>
      <p:sp>
        <p:nvSpPr>
          <p:cNvPr id="11" name="Text 6"/>
          <p:cNvSpPr txBox="1"/>
          <p:nvPr/>
        </p:nvSpPr>
        <p:spPr>
          <a:xfrm>
            <a:off x="6400800" y="2478024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一度開けばネットがなくても使える</a:t>
            </a:r>
            <a:endParaRPr lang="en-US" sz="1200" dirty="0"/>
          </a:p>
        </p:txBody>
      </p:sp>
      <p:sp>
        <p:nvSpPr>
          <p:cNvPr id="12" name="pwa 3 circle"/>
          <p:cNvSpPr/>
          <p:nvPr/>
        </p:nvSpPr>
        <p:spPr>
          <a:xfrm>
            <a:off x="5760720" y="31546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pwa 3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0448" y="3264408"/>
            <a:ext cx="237744" cy="237744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6400800" y="31089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自動で更新</a:t>
            </a:r>
            <a:endParaRPr lang="en-US" sz="1400" dirty="0"/>
          </a:p>
        </p:txBody>
      </p:sp>
      <p:sp>
        <p:nvSpPr>
          <p:cNvPr id="15" name="Text 9"/>
          <p:cNvSpPr txBox="1"/>
          <p:nvPr/>
        </p:nvSpPr>
        <p:spPr>
          <a:xfrm>
            <a:off x="6400800" y="3438144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新しい版を公開すると起動時に反映</a:t>
            </a:r>
            <a:endParaRPr lang="en-US" sz="1200" dirty="0"/>
          </a:p>
        </p:txBody>
      </p:sp>
      <p:sp>
        <p:nvSpPr>
          <p:cNvPr id="16" name="Text 10">
            <a:hlinkClick r:id="rId4" tooltip=""/>
          </p:cNvPr>
          <p:cNvSpPr txBox="1"/>
          <p:nvPr/>
        </p:nvSpPr>
        <p:spPr>
          <a:xfrm>
            <a:off x="5760720" y="41148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u="sng" dirty="0">
                <a:solidFill>
                  <a:schemeClr val="accent1"/>
                </a:solidFill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pokibon3.github.io/PlutoNano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まとめと今後</a:t>
            </a:r>
            <a:endParaRPr lang="en-US" sz="2600" dirty="0"/>
          </a:p>
        </p:txBody>
      </p:sp>
      <p:sp>
        <p:nvSpPr>
          <p:cNvPr id="3" name="num 1"/>
          <p:cNvSpPr/>
          <p:nvPr/>
        </p:nvSpPr>
        <p:spPr>
          <a:xfrm>
            <a:off x="457200" y="1225296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2252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118872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ブラウザだけで受信機・送信機になる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1499616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ドライバ・サーバー不要。URL を開くだけ</a:t>
            </a:r>
            <a:endParaRPr lang="en-US" sz="1200" dirty="0"/>
          </a:p>
        </p:txBody>
      </p:sp>
      <p:sp>
        <p:nvSpPr>
          <p:cNvPr id="7" name="num 2"/>
          <p:cNvSpPr/>
          <p:nvPr/>
        </p:nvSpPr>
        <p:spPr>
          <a:xfrm>
            <a:off x="457200" y="2002536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57200" y="2002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196596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無線機の感覚で操作できる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097280" y="2276856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フロントパネル、6 モード、バンドメモリ</a:t>
            </a:r>
            <a:endParaRPr lang="en-US" sz="1200" dirty="0"/>
          </a:p>
        </p:txBody>
      </p:sp>
      <p:sp>
        <p:nvSpPr>
          <p:cNvPr id="11" name="num 3"/>
          <p:cNvSpPr/>
          <p:nvPr/>
        </p:nvSpPr>
        <p:spPr>
          <a:xfrm>
            <a:off x="457200" y="2779776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57200" y="27797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3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097280" y="274320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送信には誤送信を防ぐ制限がある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3054096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バンド制限・タイムアウト・最小出力での待機</a:t>
            </a:r>
            <a:endParaRPr lang="en-US" sz="1200" dirty="0"/>
          </a:p>
        </p:txBody>
      </p:sp>
      <p:sp>
        <p:nvSpPr>
          <p:cNvPr id="15" name="next"/>
          <p:cNvSpPr/>
          <p:nvPr/>
        </p:nvSpPr>
        <p:spPr>
          <a:xfrm>
            <a:off x="5669280" y="1188720"/>
            <a:ext cx="3017520" cy="2240280"/>
          </a:xfrm>
          <a:prstGeom prst="roundRect">
            <a:avLst>
              <a:gd name="adj" fmla="val 3265"/>
            </a:avLst>
          </a:prstGeom>
          <a:solidFill>
            <a:schemeClr val="tx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897880" y="13258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今後の課題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5897880" y="1783080"/>
            <a:ext cx="26060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Windows / Linux での動作確認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Android（USB OTG）での動作確認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70 MHz 未満の受信（アップコンバーター）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3931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8796"/>
                </a:solidFill>
              </a:rPr>
              <a:t>アプリ  </a:t>
            </a:r>
            <a:pPr indent="0" marL="0">
              <a:buNone/>
            </a:pPr>
            <a:r>
              <a:rPr lang="en-US" sz="1600" b="1" u="sng" dirty="0">
                <a:solidFill>
                  <a:srgbClr val="1597B5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https://pokibon3.github.io/PlutoNano/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luto Nano">
  <a:themeElements>
    <a:clrScheme name="Pluto Nano">
      <a:dk1>
        <a:srgbClr val="0E1A22"/>
      </a:dk1>
      <a:lt1>
        <a:srgbClr val="FFFFFF"/>
      </a:lt1>
      <a:dk2>
        <a:srgbClr val="1D3340"/>
      </a:dk2>
      <a:lt2>
        <a:srgbClr val="EEF3F6"/>
      </a:lt2>
      <a:accent1>
        <a:srgbClr val="1597B5"/>
      </a:accent1>
      <a:accent2>
        <a:srgbClr val="E8952B"/>
      </a:accent2>
      <a:accent3>
        <a:srgbClr val="D9434A"/>
      </a:accent3>
      <a:accent4>
        <a:srgbClr val="3E7CB1"/>
      </a:accent4>
      <a:accent5>
        <a:srgbClr val="6B8796"/>
      </a:accent5>
      <a:accent6>
        <a:srgbClr val="2A9D63"/>
      </a:accent6>
      <a:hlink>
        <a:srgbClr val="1597B5"/>
      </a:hlink>
      <a:folHlink>
        <a:srgbClr val="6B8796"/>
      </a:folHlink>
    </a:clrScheme>
    <a:fontScheme name="Pluto Nano">
      <a:majorFont>
        <a:latin typeface="Yu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eiry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Pluto Nano SDR</dc:title>
  <dc:subject>PptxGenJS Presentation</dc:subject>
  <dc:creator>pokibon3</dc:creator>
  <cp:lastModifiedBy>pokibon3</cp:lastModifiedBy>
  <cp:revision>1</cp:revision>
  <dcterms:created xsi:type="dcterms:W3CDTF">2026-10-16T11:04:24Z</dcterms:created>
  <dcterms:modified xsi:type="dcterms:W3CDTF">2026-10-16T11:04:24Z</dcterms:modified>
</cp:coreProperties>
</file>